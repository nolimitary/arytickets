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0" b="1" i="0">
                <a:solidFill>
                  <a:srgbClr val="F7EEDE"/>
                </a:solidFill>
                <a:latin typeface="Georgia"/>
              </a:rPr>
              <a:t>AryTix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0" i="1">
                <a:solidFill>
                  <a:srgbClr val="D4AF37"/>
                </a:solidFill>
                <a:latin typeface="Georgia"/>
              </a:rPr>
              <a:t>A modern theatre ticketing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572000"/>
            <a:ext cx="2103120" cy="95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DDC9AD"/>
                </a:solidFill>
                <a:latin typeface="Calibri"/>
              </a:rPr>
              <a:t>Diploma defence  ·  SoftUni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01  ·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7EEDE"/>
                </a:solidFill>
                <a:latin typeface="Georgia"/>
              </a:rPr>
              <a:t>Theatre ticketing in Bulgaria is</a:t>
            </a:r>
          </a:p>
          <a:p>
            <a:pPr algn="l"/>
            <a:r>
              <a:rPr sz="4000" b="1" i="0">
                <a:solidFill>
                  <a:srgbClr val="F7EEDE"/>
                </a:solidFill>
                <a:latin typeface="Georgia"/>
              </a:rPr>
              <a:t>fragmented and dated.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3090672"/>
            <a:ext cx="109728" cy="109728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926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DDC9AD"/>
                </a:solidFill>
                <a:latin typeface="Calibri"/>
              </a:rPr>
              <a:t>Existing platforms focus on cinema — theatre is an afterthought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639312"/>
            <a:ext cx="109728" cy="109728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4747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DDC9AD"/>
                </a:solidFill>
                <a:latin typeface="Calibri"/>
              </a:rPr>
              <a:t>No live seat-locking — two people can pay for the same seat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4187952"/>
            <a:ext cx="109728" cy="109728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233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DDC9AD"/>
                </a:solidFill>
                <a:latin typeface="Calibri"/>
              </a:rPr>
              <a:t>Paper tickets and unverifiable QR codes at the door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736592"/>
            <a:ext cx="109728" cy="109728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5720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DDC9AD"/>
                </a:solidFill>
                <a:latin typeface="Calibri"/>
              </a:rPr>
              <a:t>No role separation — audience, staff and admins share one interface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285232"/>
            <a:ext cx="109728" cy="109728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1206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DDC9AD"/>
                </a:solidFill>
                <a:latin typeface="Calibri"/>
              </a:rPr>
              <a:t>Critics have no recognised voice on these platforms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D4AF37"/>
                </a:solidFill>
                <a:latin typeface="Georgia"/>
              </a:rPr>
              <a:t>The audience deserves better. So do the box-office staff.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02  · 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7EEDE"/>
                </a:solidFill>
                <a:latin typeface="Georgia"/>
              </a:rPr>
              <a:t>One platform for every actor</a:t>
            </a:r>
          </a:p>
          <a:p>
            <a:pPr algn="l"/>
            <a:r>
              <a:rPr sz="4000" b="1" i="0">
                <a:solidFill>
                  <a:srgbClr val="F7EEDE"/>
                </a:solidFill>
                <a:latin typeface="Georgia"/>
              </a:rPr>
              <a:t>in the workflow.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5394960" cy="1691640"/>
          </a:xfrm>
          <a:prstGeom prst="rect">
            <a:avLst/>
          </a:prstGeom>
          <a:solidFill>
            <a:srgbClr val="2514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077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Georgia"/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DC9AD"/>
                </a:solidFill>
                <a:latin typeface="Calibri"/>
              </a:rPr>
              <a:t>Browse the repertoire, reserve seats live, pay by card, receive a digital ticket and manage bookings.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743200"/>
            <a:ext cx="5394960" cy="1691640"/>
          </a:xfrm>
          <a:prstGeom prst="rect">
            <a:avLst/>
          </a:prstGeom>
          <a:solidFill>
            <a:srgbClr val="2514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9077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Georgia"/>
              </a:rPr>
              <a:t>Box-office staff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42900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DC9AD"/>
                </a:solidFill>
                <a:latin typeface="Calibri"/>
              </a:rPr>
              <a:t>Scan and validate QR tickets at the door from any phone — no separate app required.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63440"/>
            <a:ext cx="5394960" cy="1691640"/>
          </a:xfrm>
          <a:prstGeom prst="rect">
            <a:avLst/>
          </a:prstGeom>
          <a:solidFill>
            <a:srgbClr val="2514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2803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Georgia"/>
              </a:rPr>
              <a:t>Critics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DC9AD"/>
                </a:solidFill>
                <a:latin typeface="Calibri"/>
              </a:rPr>
              <a:t>Apply for certification, get reviewed by admins, and have reviews marked as verified.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663440"/>
            <a:ext cx="5394960" cy="1691640"/>
          </a:xfrm>
          <a:prstGeom prst="rect">
            <a:avLst/>
          </a:prstGeom>
          <a:solidFill>
            <a:srgbClr val="2514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82803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Georgia"/>
              </a:rPr>
              <a:t>Administrators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34924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DC9AD"/>
                </a:solidFill>
                <a:latin typeface="Calibri"/>
              </a:rPr>
              <a:t>Manage productions, performances, users and applications. See real-time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03  ·  WHAT WAS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7EEDE"/>
                </a:solidFill>
                <a:latin typeface="Georgia"/>
              </a:rPr>
              <a:t>A working production system —</a:t>
            </a:r>
          </a:p>
          <a:p>
            <a:pPr algn="l"/>
            <a:r>
              <a:rPr sz="4000" b="1" i="0">
                <a:solidFill>
                  <a:srgbClr val="F7EEDE"/>
                </a:solidFill>
                <a:latin typeface="Georgia"/>
              </a:rPr>
              <a:t>not a prototype.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834640"/>
            <a:ext cx="73152" cy="4114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7EEDE"/>
                </a:solidFill>
                <a:latin typeface="Calibri"/>
              </a:rPr>
              <a:t>25 staged productions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358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DDC9AD"/>
                </a:solidFill>
                <a:latin typeface="Calibri"/>
              </a:rPr>
              <a:t>Synopses, casts, directors, premieres and reviews.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474720"/>
            <a:ext cx="73152" cy="4114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7EEDE"/>
                </a:solidFill>
                <a:latin typeface="Calibri"/>
              </a:rPr>
              <a:t>Live seat reservation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758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DDC9AD"/>
                </a:solidFill>
                <a:latin typeface="Calibri"/>
              </a:rPr>
              <a:t>Every browser sees a seat lock the moment another viewer picks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114800"/>
            <a:ext cx="73152" cy="4114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7EEDE"/>
                </a:solidFill>
                <a:latin typeface="Calibri"/>
              </a:rPr>
              <a:t>Real card payments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1596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DDC9AD"/>
                </a:solidFill>
                <a:latin typeface="Calibri"/>
              </a:rPr>
              <a:t>Stripe Payment Intents — switch to live with one env-var change.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754880"/>
            <a:ext cx="73152" cy="4114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663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7EEDE"/>
                </a:solidFill>
                <a:latin typeface="Calibri"/>
              </a:rPr>
              <a:t>Emailed PDF tickets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560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DDC9AD"/>
                </a:solidFill>
                <a:latin typeface="Calibri"/>
              </a:rPr>
              <a:t>Generated server-side with a QR code, delivered automatically.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394960"/>
            <a:ext cx="73152" cy="4114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7EEDE"/>
                </a:solidFill>
                <a:latin typeface="Calibri"/>
              </a:rPr>
              <a:t>Door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961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DDC9AD"/>
                </a:solidFill>
                <a:latin typeface="Calibri"/>
              </a:rPr>
              <a:t>Staff scan the QR with their phone camera or an uploaded screenshot.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6035040"/>
            <a:ext cx="73152" cy="4114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7EEDE"/>
                </a:solidFill>
                <a:latin typeface="Calibri"/>
              </a:rPr>
              <a:t>Cancellation window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62362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DDC9AD"/>
                </a:solidFill>
                <a:latin typeface="Calibri"/>
              </a:rPr>
              <a:t>Customers release seats back to the pool up to two hours before showtime.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04  ·  WHAT MAKES IT DISTINCTIVE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7EEDE"/>
                </a:solidFill>
                <a:latin typeface="Georgia"/>
              </a:rPr>
              <a:t>Five things this project does</a:t>
            </a:r>
          </a:p>
          <a:p>
            <a:pPr algn="l"/>
            <a:r>
              <a:rPr sz="3600" b="1" i="0">
                <a:solidFill>
                  <a:srgbClr val="F7EEDE"/>
                </a:solidFill>
                <a:latin typeface="Georgia"/>
              </a:rPr>
              <a:t>that most ticketing sites don't.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7EEDE"/>
                </a:solidFill>
                <a:latin typeface="Calibri"/>
              </a:rPr>
              <a:t>Real-time seat-locking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0175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DDC9AD"/>
                </a:solidFill>
                <a:latin typeface="Calibri"/>
              </a:rPr>
              <a:t>WebSocket-driven seat map updates within milliseconds across every visitor.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429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7EEDE"/>
                </a:solidFill>
                <a:latin typeface="Calibri"/>
              </a:rPr>
              <a:t>Three-role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7947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DDC9AD"/>
                </a:solidFill>
                <a:latin typeface="Calibri"/>
              </a:rPr>
              <a:t>Audience, box-office staff and administrators — strict server-side authorisation.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206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7EEDE"/>
                </a:solidFill>
                <a:latin typeface="Calibri"/>
              </a:rPr>
              <a:t>Cards that actually charge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5720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DDC9AD"/>
                </a:solidFill>
                <a:latin typeface="Calibri"/>
              </a:rPr>
              <a:t>Stripe Payment Intents, the PSD2 / SCA-compliant flow Stripe recommends.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  <a:latin typeface="Georgia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983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7EEDE"/>
                </a:solidFill>
                <a:latin typeface="Calibri"/>
              </a:rPr>
              <a:t>Built-in validator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3492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DDC9AD"/>
                </a:solidFill>
                <a:latin typeface="Calibri"/>
              </a:rPr>
              <a:t>Any staff phone becomes a QR ticket scanner — no separate application needed.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064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  <a:latin typeface="Georgia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7EEDE"/>
                </a:solidFill>
                <a:latin typeface="Calibri"/>
              </a:rPr>
              <a:t>Custom themed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61264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DDC9AD"/>
                </a:solidFill>
                <a:latin typeface="Calibri"/>
              </a:rPr>
              <a:t>Serif typography, gold accents, hand-designed posters — no off-the-shelf admin theme.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05  ·  OUTCOME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7EEDE"/>
                </a:solidFill>
                <a:latin typeface="Georgia"/>
              </a:rPr>
              <a:t>Achieved — and what's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ACHIEVED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DDC9AD"/>
                </a:solidFill>
                <a:latin typeface="Calibri"/>
              </a:rPr>
              <a:t>•  Deployed live on Railway with HTTPS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DDC9AD"/>
                </a:solidFill>
                <a:latin typeface="Calibri"/>
              </a:rPr>
              <a:t>•  12+ functional requirement groups covered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DDC9AD"/>
                </a:solidFill>
                <a:latin typeface="Calibri"/>
              </a:rPr>
              <a:t>•  127 automated tests · ~77 % line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DDC9AD"/>
                </a:solidFill>
                <a:latin typeface="Calibri"/>
              </a:rPr>
              <a:t>•  Mobile-responsive · CSRF · role-based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DDC9AD"/>
                </a:solidFill>
                <a:latin typeface="Calibri"/>
              </a:rPr>
              <a:t>•  Multi-database (SQL Server / PostgreSQL)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POSSIBLE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DDC9AD"/>
                </a:solidFill>
                <a:latin typeface="Calibri"/>
              </a:rPr>
              <a:t>•  Group bookings &amp; corporate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DDC9AD"/>
                </a:solidFill>
                <a:latin typeface="Calibri"/>
              </a:rPr>
              <a:t>•  Loyalty points and gamified badges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661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DDC9AD"/>
                </a:solidFill>
                <a:latin typeface="Calibri"/>
              </a:rPr>
              <a:t>•  Apple / Google Wallet ticket passes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977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DDC9AD"/>
                </a:solidFill>
                <a:latin typeface="Calibri"/>
              </a:rPr>
              <a:t>•  Multi-theatre support (one platform, many venues)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891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DDC9AD"/>
                </a:solidFill>
                <a:latin typeface="Calibri"/>
              </a:rPr>
              <a:t>•  Recommendation engine on co-favourites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5852160"/>
            <a:ext cx="2103120" cy="95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D4AF37"/>
                </a:solidFill>
                <a:latin typeface="Georgia"/>
              </a:rPr>
              <a:t>Thank you.  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